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72" r:id="rId17"/>
    <p:sldId id="273" r:id="rId18"/>
    <p:sldId id="269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16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9995-F950-650C-8613-9136DC7D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0BB0B-5DFC-AE34-EBB7-708AAF6BE6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4EA36-29C1-73E7-951D-4415F9E4A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A8E4D-92AF-C326-9DD3-9069B56046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35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1140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· MACHINE LEARNING MINI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Churn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700" dirty="0">
              <a:solidFill>
                <a:srgbClr val="C9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700" dirty="0">
              <a:solidFill>
                <a:srgbClr val="C9DC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 :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3518" y="4225771"/>
            <a:ext cx="7451028" cy="26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FLOYD OMBURO - 190095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GRIFFIN MUKUNGU - 190236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2900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42900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64108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E1DD8-A443-9EDA-7BAF-D2A58BB5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40F26F-9367-ADD4-E2AB-400615B443A6}"/>
              </a:ext>
            </a:extLst>
          </p:cNvPr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B79859-5113-918D-D872-F128CE2A1455}"/>
              </a:ext>
            </a:extLst>
          </p:cNvPr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564EA23-12E5-4181-0E14-7FA5C6C9B87A}"/>
              </a:ext>
            </a:extLst>
          </p:cNvPr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B19DE74-85BD-E3CC-A582-D4ED974B7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1140257"/>
            <a:ext cx="416966" cy="41696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1DD541E2-2F08-028F-05A9-DA81FBFEDB46}"/>
              </a:ext>
            </a:extLst>
          </p:cNvPr>
          <p:cNvSpPr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· MACHINE LEARNING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649FEA2-0703-5783-125C-3615B969038D}"/>
              </a:ext>
            </a:extLst>
          </p:cNvPr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Churn</a:t>
            </a:r>
            <a:endParaRPr lang="en-US" sz="4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2A1FE3C-D068-9A9D-0351-636B665AD664}"/>
              </a:ext>
            </a:extLst>
          </p:cNvPr>
          <p:cNvSpPr/>
          <p:nvPr/>
        </p:nvSpPr>
        <p:spPr>
          <a:xfrm>
            <a:off x="822960" y="34290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comparison of KNN, Decision Tree, SVM &amp; Neural Network classifiers</a:t>
            </a:r>
            <a:endParaRPr lang="en-US" sz="17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identifying customers likely to leave</a:t>
            </a:r>
            <a:endParaRPr lang="en-US" sz="17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C43C337-916F-4C43-C526-86E723F1EC26}"/>
              </a:ext>
            </a:extLst>
          </p:cNvPr>
          <p:cNvSpPr/>
          <p:nvPr/>
        </p:nvSpPr>
        <p:spPr>
          <a:xfrm>
            <a:off x="82296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40C07B6-DA9C-1937-AC1E-AD35313A354A}"/>
              </a:ext>
            </a:extLst>
          </p:cNvPr>
          <p:cNvSpPr/>
          <p:nvPr/>
        </p:nvSpPr>
        <p:spPr>
          <a:xfrm>
            <a:off x="82296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0F44285-A979-46A7-6E86-7890D4491B11}"/>
              </a:ext>
            </a:extLst>
          </p:cNvPr>
          <p:cNvSpPr/>
          <p:nvPr/>
        </p:nvSpPr>
        <p:spPr>
          <a:xfrm>
            <a:off x="342900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B18A932-64B0-45B6-DEAE-EB27342F3211}"/>
              </a:ext>
            </a:extLst>
          </p:cNvPr>
          <p:cNvSpPr/>
          <p:nvPr/>
        </p:nvSpPr>
        <p:spPr>
          <a:xfrm>
            <a:off x="342900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C51DE6F-9A9B-65B5-216B-3CC1D6CE6D75}"/>
              </a:ext>
            </a:extLst>
          </p:cNvPr>
          <p:cNvSpPr/>
          <p:nvPr/>
        </p:nvSpPr>
        <p:spPr>
          <a:xfrm>
            <a:off x="603504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50B87C8-A3E1-189F-C331-48499D9FEB0F}"/>
              </a:ext>
            </a:extLst>
          </p:cNvPr>
          <p:cNvSpPr/>
          <p:nvPr/>
        </p:nvSpPr>
        <p:spPr>
          <a:xfrm>
            <a:off x="603504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3B20F4B-7F21-C6BD-274E-3CDFD7AD1A79}"/>
              </a:ext>
            </a:extLst>
          </p:cNvPr>
          <p:cNvSpPr/>
          <p:nvPr/>
        </p:nvSpPr>
        <p:spPr>
          <a:xfrm>
            <a:off x="8641080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446CBE0-CAEB-0198-4372-F8C61CD0ED2D}"/>
              </a:ext>
            </a:extLst>
          </p:cNvPr>
          <p:cNvSpPr/>
          <p:nvPr/>
        </p:nvSpPr>
        <p:spPr>
          <a:xfrm>
            <a:off x="864108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3339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Losing customers quietly costs the most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when a customer ends their relationship with a business — cancels a subscription, switches provider, or simply stops paying.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silent leak: customers rarely announce they're leaving before they do.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back a lost customer is far harder — and costlier — than keeping one who's already on the fence.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business can flag at-risk customers early, it can intervene: a call, a discount, a fix — before it's too late.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5257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this project sets out to do: predict churn before it happens.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040880" y="1508760"/>
            <a:ext cx="4526280" cy="4343400"/>
          </a:xfrm>
          <a:prstGeom prst="roundRect">
            <a:avLst>
              <a:gd name="adj" fmla="val 2526"/>
            </a:avLst>
          </a:prstGeom>
          <a:solidFill>
            <a:srgbClr val="21295C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7452360" y="1874520"/>
            <a:ext cx="640080" cy="640080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81" y="204094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5236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DATASET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52360" y="2926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7452360" y="388620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in the Telco dataset churned — roughly 1 in 4. Left unaddressed, that's a quarter of the customer base walking out the door.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Telco Customer Churn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dataset of telecom customers, capturing who they are, what services they use, and whether they eventually left.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2F7F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804672" y="2468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6353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95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00200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2402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2F7F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1" name="Shape 8"/>
          <p:cNvSpPr/>
          <p:nvPr/>
        </p:nvSpPr>
        <p:spPr>
          <a:xfrm>
            <a:off x="4599432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853" y="26353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395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394960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features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24028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2F7FA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2"/>
          <p:cNvSpPr/>
          <p:nvPr/>
        </p:nvSpPr>
        <p:spPr>
          <a:xfrm>
            <a:off x="8394192" y="2468880"/>
            <a:ext cx="640080" cy="640080"/>
          </a:xfrm>
          <a:prstGeom prst="ellipse">
            <a:avLst/>
          </a:prstGeom>
          <a:solidFill>
            <a:srgbClr val="C1440E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613" y="26353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9720" y="23957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9189720" y="28803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classes: Stay / Churn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48640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48640" y="48646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 citizen, partner, dependents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3364992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364992" y="48646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 type, payment method, billing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181344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181344" y="48646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internet, streaming, security add-ons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997696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997696" y="4864608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charges, total charges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working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3796" y="23774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2F7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790956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1016" y="28803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211" y="307055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0956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Encode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" y="4251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convert text to numbers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19756" y="34290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875788" y="23774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9"/>
          <p:cNvSpPr/>
          <p:nvPr/>
        </p:nvSpPr>
        <p:spPr>
          <a:xfrm>
            <a:off x="3012948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93008" y="28803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203" y="3070555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12948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&amp; Scale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012948" y="4251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train/test sets, scale features for KNN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41748" y="34290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097780" y="23774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2F7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9" name="Text 15"/>
          <p:cNvSpPr/>
          <p:nvPr/>
        </p:nvSpPr>
        <p:spPr>
          <a:xfrm>
            <a:off x="5234940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715000" y="28803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195" y="3070555"/>
            <a:ext cx="351130" cy="35113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34940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234940" y="4251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KNN, Tree, SVM &amp; ANN via cross-validation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063740" y="34290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7319772" y="23774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6" name="Text 21"/>
          <p:cNvSpPr/>
          <p:nvPr/>
        </p:nvSpPr>
        <p:spPr>
          <a:xfrm>
            <a:off x="7456932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936992" y="28803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187" y="3070555"/>
            <a:ext cx="351130" cy="35113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56932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456932" y="4251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accuracy, precision, recall, F1, ROC AUC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285732" y="342900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9541764" y="237744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2F7FA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27"/>
          <p:cNvSpPr/>
          <p:nvPr/>
        </p:nvSpPr>
        <p:spPr>
          <a:xfrm>
            <a:off x="9678924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0158984" y="288036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9179" y="3070555"/>
            <a:ext cx="351130" cy="35113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678924" y="37947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9678924" y="425196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factors drive churn most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Preparing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4" y="17547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72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customerID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a label — no predictive value.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4" y="280629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243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TotalCharges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blank entries (new customers) coerced to numeric and filled.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7033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4" y="385785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6758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the target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40233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mapped from Yes/No to 1/0 for the model to read.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7548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174" y="490941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7274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50749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columns (Partner, gender...) mapped to 0/1; multi-category columns (Contract, InternetService...) one-hot encoded.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0" y="160020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21295C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1" name="Text 15"/>
          <p:cNvSpPr/>
          <p:nvPr/>
        </p:nvSpPr>
        <p:spPr>
          <a:xfrm>
            <a:off x="76352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BEFORE → AFTER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635240" y="2331720"/>
            <a:ext cx="3703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 × 21</a:t>
            </a:r>
            <a:endParaRPr lang="en-US" sz="2600" dirty="0"/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9FC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columns</a:t>
            </a:r>
            <a:endParaRPr lang="en-US" sz="2600" dirty="0"/>
          </a:p>
          <a:p>
            <a:pPr marL="0" indent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2200" dirty="0">
                <a:solidFill>
                  <a:srgbClr val="8FC1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 × 31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C6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encoded, model-ready columns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Split &amp; Feature Scaling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held </a:t>
            </a:r>
            <a:r>
              <a:rPr lang="en-US" sz="14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20</a:t>
            </a: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customers as a test set the models never see during training — and stratified the split so both sets keep the same ~26.5% churn rate.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705088" cy="5943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9253728" y="2331720"/>
            <a:ext cx="2176272" cy="5943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705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5,634 customers (80%)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253728" y="233172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1,409 (20%)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77830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4592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SVM &amp; ANN need scaling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438912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measures straight-line distance, SVM fits margins, and the neural net trains by gradient descent. Without scaling, MonthlyCharges (0-120) would drown out a 0/1 column — so we standardize every feature to the same scale first.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3337560"/>
            <a:ext cx="5257800" cy="2651760"/>
          </a:xfrm>
          <a:prstGeom prst="roundRect">
            <a:avLst>
              <a:gd name="adj" fmla="val 3448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5" name="Shape 12"/>
          <p:cNvSpPr/>
          <p:nvPr/>
        </p:nvSpPr>
        <p:spPr>
          <a:xfrm>
            <a:off x="6629400" y="3611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377830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5236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don't need it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629400" y="438912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just asks yes/no threshold questions, like “is tenure &lt; 6 months?” That comparison works the same whether values are scaled or not — so we feed it the raw, unscaled features.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Classic Algorithms: KNN &amp; Tree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098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like the company you keep.”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every customer in feature space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a new customer, finds their K closest neighbors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majority vote among those neighbors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most neighbors churned, it predicts churn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52578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868680" y="5257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setting found:  </a:t>
            </a: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29 neighbors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55080" y="160020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Shape 10"/>
          <p:cNvSpPr/>
          <p:nvPr/>
        </p:nvSpPr>
        <p:spPr>
          <a:xfrm>
            <a:off x="6675120" y="1920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428" y="20985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7512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flowchart of yes/no questions.”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75120" y="33375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customers into branches by threshold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“Is tenure &lt; 6 months?” then “Fiber optic internet?”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leaf ends in a Stay / Churn prediction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rules a manager can read and explain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675120" y="52578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9" name="Text 15"/>
          <p:cNvSpPr/>
          <p:nvPr/>
        </p:nvSpPr>
        <p:spPr>
          <a:xfrm>
            <a:off x="6675120" y="5257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setting found:  </a:t>
            </a: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 = 8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3B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Algorithms: SVM &amp; ANN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20985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“Draw the widest street between the two classes.”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hyperplane that best separates Stay vs Churn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the margin between the closest points of each class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kernel worked best on this scaled, high-dimensional data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customer's side of that boundary is its predicted class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52578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868680" y="5257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setting found:  </a:t>
            </a: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0.1, linear kernel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355080" y="160020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5875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Shape 10"/>
          <p:cNvSpPr/>
          <p:nvPr/>
        </p:nvSpPr>
        <p:spPr>
          <a:xfrm>
            <a:off x="6675120" y="19202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428" y="20985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Neural Network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67512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web of tiny decisions, layered and weighted.”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675120" y="33375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combine weighted inputs through hidden layers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hidden layer of 50 neurons was enough for this data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non-linear patterns a straight line would miss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harder for a manager to interpret directly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675120" y="52578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9" name="Text 15"/>
          <p:cNvSpPr/>
          <p:nvPr/>
        </p:nvSpPr>
        <p:spPr>
          <a:xfrm>
            <a:off x="6675120" y="5257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setting found:  </a:t>
            </a: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(50,), alpha=0.001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K with Cross-Validation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every odd k from 3 to 29, scoring each with 2-fold cross-validation on the training set, and kept the k with the best F1 score.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 a k (e.g. 1-3): overly sensitive to noise, overfits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 a k: too smooth, misses real patterns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29 gave the best balance, with cross-validated F1 ≈ 0.60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48056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7" name="Shape 5"/>
          <p:cNvSpPr/>
          <p:nvPr/>
        </p:nvSpPr>
        <p:spPr>
          <a:xfrm>
            <a:off x="777240" y="4681728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836262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47091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29 neighbors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54480" y="50749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scikit-learn value (k=5) would have overfit — tuning mattered.</a:t>
            </a:r>
            <a:endParaRPr lang="en-US" sz="1100" dirty="0"/>
          </a:p>
        </p:txBody>
      </p:sp>
      <p:pic>
        <p:nvPicPr>
          <p:cNvPr id="11" name="Image 1" descr="knn_k_sel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149" y="1151626"/>
            <a:ext cx="6272784" cy="44805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4B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Growing the Decision Tree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with no depth limit will memorize the training data perfectly — and generalize poorly. We tuned max depth and minimum leaf size the same way, via cross-validation.</a:t>
            </a:r>
            <a:endParaRPr lang="en-US" sz="1400" dirty="0"/>
          </a:p>
        </p:txBody>
      </p:sp>
      <p:pic>
        <p:nvPicPr>
          <p:cNvPr id="5" name="Image 0" descr="deci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460" y="1802922"/>
            <a:ext cx="905256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levels shown — the full tree goes 8 levels deep, split on 20 samples minimum per leaf.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on the Test Set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498080" cy="3017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(Churn)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(Churn)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 (Churn)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600200"/>
            <a:ext cx="3337560" cy="4434840"/>
          </a:xfrm>
          <a:prstGeom prst="roundRect">
            <a:avLst>
              <a:gd name="adj" fmla="val 3288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Shape 3"/>
          <p:cNvSpPr/>
          <p:nvPr/>
        </p:nvSpPr>
        <p:spPr>
          <a:xfrm>
            <a:off x="8549640" y="187452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174" y="202905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trade-off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49640" y="306324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&amp; ROC AUC — best overall separation of churners.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— catches the most true churners.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 — best balance, and easiest to explain.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  <a:p>
            <a:pPr marL="0" indent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middle ground — best margin-based fit.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Model Gets It Wrong</a:t>
            </a:r>
            <a:endParaRPr lang="en-US" sz="3000" dirty="0"/>
          </a:p>
        </p:txBody>
      </p:sp>
      <p:pic>
        <p:nvPicPr>
          <p:cNvPr id="4" name="Image 0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600" y="1691640"/>
            <a:ext cx="4840000" cy="440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2573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missed 162 churners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167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176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177</a:t>
            </a: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false negatives (missed churners), out of 1,409 test customers.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Signal from Noise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ROC curve shows how well each model distinguishes churners from stayers across every possible decision threshold — not just the default 50% cutoff. The closer to the top-left corner, the better.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ANN: AUC = 0.839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AUC = 0.826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comfortably beat the diagonal “random guess” line (KNN 0.820, Tree 0.819)</a:t>
            </a:r>
            <a:endParaRPr lang="en-US" sz="1300" dirty="0"/>
          </a:p>
        </p:txBody>
      </p:sp>
      <p:pic>
        <p:nvPicPr>
          <p:cNvPr id="6" name="Image 0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737360"/>
            <a:ext cx="54864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Churn</a:t>
            </a:r>
            <a:endParaRPr lang="en-US" sz="3000" dirty="0"/>
          </a:p>
        </p:txBody>
      </p:sp>
      <p:pic>
        <p:nvPicPr>
          <p:cNvPr id="4" name="Image 0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4480"/>
            <a:ext cx="64008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is king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0" y="2011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(low tenure) are far more likely to churn than long-time ones.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31520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internet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0" y="34290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 the 2nd strongest signal — possibly pricing or service quality issues.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152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matter less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0" y="48463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and monthly charges contribute, but far behind tenure and service type.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project compares to published churn studies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360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baseline studies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published work on this same IBM Telco dataset reports 77-80% accuracy with logistic regression or decision trees before balancing — in line with our 78-79% baseline.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Shape 8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861" y="23609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Tree &amp; SVM studies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telecom studies report Decision Trees beating other classifiers by 3-6% accuracy, and kernel SVMs reaching 81-92% depending on preprocessing — our tuned SVM (78.9%) sits at the modest end of that range, since we skipped resampling.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6" name="Shape 12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341" y="23609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(ANN) studies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0392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ANN churn models report 79-90% accuracy depending on architecture and data balancing. Our single-hidden-layer MLP (79.2% accuracy, best ROC AUC at 0.839) fits comfortably within that range.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IBM/Kaggle Telco dataset studies; telecom ML surveys on KNN, Decision Tree, SVM &amp; ANN churn models (2019-2026)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RELEVANCE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Kenya &amp; East Africa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360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a live problem here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telecom operators see churn rates from roughly 5% up to 31.5%. With Safaricom’s tens of millions of subscribers, even small improvements in early detection translate into major revenue protected.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Shape 8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861" y="23609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applies directly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researchers have already applied machine learning and uplift modelling to Safaricom subscriber data. The cleaning, scaling &amp; tuning steps in this project transfer directly to prepaid or M-PESA-linked usage data from any East African operator.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6" name="Shape 12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341" y="23609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Africa-wide opportunity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0392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penetration is still rising across Sub-Saharan Africa, and competition between operators is intense. Low-cost, interpretable models like KNN and Decision Trees are well suited to markets where compute budgets and connectivity are limited.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KCA University repository (Safaricom churn study); published research on telecom churn causes in Kenya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four models beat guessing — the right choice depends on the goal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360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churner is costly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most businesses, a false negative (losing a customer you never flagged) costs more than a false alarm. That favors KNN's higher recall (56.7%).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Shape 8"/>
          <p:cNvSpPr/>
          <p:nvPr/>
        </p:nvSpPr>
        <p:spPr>
          <a:xfrm>
            <a:off x="466344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861" y="23609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wins on power, Tree on clarity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6344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 leads on accuracy and ROC AUC, but a Decision Tree's rules can be read directly by a retention team — no black box, easy to act 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192024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6" name="Shape 12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0341" y="23609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017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should target tenure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503920" y="3703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C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new customers churn most, focus retention efforts on the first few months of the relationship.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scikit-learn, pandas &amp; the Telco Customer Churn dataset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C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cited in this project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0" cy="4114800"/>
          </a:xfrm>
          <a:prstGeom prst="roundRect">
            <a:avLst>
              <a:gd name="adj" fmla="val 2000"/>
            </a:avLst>
          </a:prstGeom>
          <a:solidFill>
            <a:srgbClr val="1B2450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Ref List"/>
          <p:cNvSpPr/>
          <p:nvPr/>
        </p:nvSpPr>
        <p:spPr>
          <a:xfrm>
            <a:off x="914400" y="2103120"/>
            <a:ext cx="10240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Font typeface="Calibri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IBM / BlastChar. </a:t>
            </a:r>
            <a:r>
              <a:rPr lang="en-US" sz="1200" i="1" dirty="0">
                <a:solidFill>
                  <a:srgbClr val="B9CEDB"/>
                </a:solidFill>
                <a:latin typeface="Calibri" pitchFamily="34" charset="0"/>
              </a:rPr>
              <a:t>Telco Customer Churn Dataset</a:t>
            </a:r>
            <a:r>
              <a:rPr lang="en-US" sz="1200" dirty="0">
                <a:solidFill>
                  <a:srgbClr val="B9CEDB"/>
                </a:solidFill>
                <a:latin typeface="Calibri" pitchFamily="34" charset="0"/>
              </a:rPr>
              <a:t> [IBM Sample Data Sets]. Kaggle. kaggle.com/datasets/blastchar/telco-customer-churn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Font typeface="Calibri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Vafeiadis, T., Diamantaras, K.I., Sarigiannidis, G., &amp; Chatzisavvas, K.Ch. (2015). </a:t>
            </a:r>
            <a:r>
              <a:rPr lang="en-US" sz="1200" i="1" dirty="0">
                <a:solidFill>
                  <a:srgbClr val="B9CEDB"/>
                </a:solidFill>
                <a:latin typeface="Calibri" pitchFamily="34" charset="0"/>
              </a:rPr>
              <a:t>A comparison of machine learning techniques for customer churn prediction.</a:t>
            </a:r>
            <a:r>
              <a:rPr lang="en-US" sz="1200" dirty="0">
                <a:solidFill>
                  <a:srgbClr val="B9CEDB"/>
                </a:solidFill>
                <a:latin typeface="Calibri" pitchFamily="34" charset="0"/>
              </a:rPr>
              <a:t> Simulation Modelling Practice and Theory, 55, 1-9.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Font typeface="Calibri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Amin, A., Al-Obeidat, F., Shah, B., Adnan, A., Loo, J., &amp; Anwar, S. (2019). </a:t>
            </a:r>
            <a:r>
              <a:rPr lang="en-US" sz="1200" i="1" dirty="0">
                <a:solidFill>
                  <a:srgbClr val="B9CEDB"/>
                </a:solidFill>
                <a:latin typeface="Calibri" pitchFamily="34" charset="0"/>
              </a:rPr>
              <a:t>Customer churn prediction in telecommunication industry using data certainty.</a:t>
            </a:r>
            <a:r>
              <a:rPr lang="en-US" sz="1200" dirty="0">
                <a:solidFill>
                  <a:srgbClr val="B9CEDB"/>
                </a:solidFill>
                <a:latin typeface="Calibri" pitchFamily="34" charset="0"/>
              </a:rPr>
              <a:t> Journal of Business Research, 94, 290-301.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Font typeface="Calibri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Lalwani, P., Mishra, M.K., Chadha, J.S., &amp; Sethi, P. (2021). </a:t>
            </a:r>
            <a:r>
              <a:rPr lang="en-US" sz="1200" i="1" dirty="0">
                <a:solidFill>
                  <a:srgbClr val="B9CEDB"/>
                </a:solidFill>
                <a:latin typeface="Calibri" pitchFamily="34" charset="0"/>
              </a:rPr>
              <a:t>Customer churn prediction system: a machine learning approach.</a:t>
            </a:r>
            <a:r>
              <a:rPr lang="en-US" sz="1200" dirty="0">
                <a:solidFill>
                  <a:srgbClr val="B9CEDB"/>
                </a:solidFill>
                <a:latin typeface="Calibri" pitchFamily="34" charset="0"/>
              </a:rPr>
              <a:t> Computing.</a:t>
            </a: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Font typeface="Calibri"/>
              <a:buAutoNum type="arabicPeriod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</a:rPr>
              <a:t>Ochieng, A.C. (2021). </a:t>
            </a:r>
            <a:r>
              <a:rPr lang="en-US" sz="1200" i="1" dirty="0">
                <a:solidFill>
                  <a:srgbClr val="B9CEDB"/>
                </a:solidFill>
                <a:latin typeface="Calibri" pitchFamily="34" charset="0"/>
              </a:rPr>
              <a:t>Uplifting Model for Predicting Subscriber Churn Conversion Using Ensemble Learning: A Case Study of Mobile Telecommunication Sector in Kenya.</a:t>
            </a:r>
            <a:r>
              <a:rPr lang="en-US" sz="1200" dirty="0">
                <a:solidFill>
                  <a:srgbClr val="B9CEDB"/>
                </a:solidFill>
                <a:latin typeface="Calibri" pitchFamily="34" charset="0"/>
              </a:rPr>
              <a:t> MSc Dissertation, KCA University. repository.kcau.ac.ke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1934</Words>
  <Application>Microsoft Office PowerPoint</Application>
  <PresentationFormat>Widescreen</PresentationFormat>
  <Paragraphs>264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Customer Churn — KNN vs Decision Tree</dc:title>
  <dc:subject>PptxGenJS Presentation</dc:subject>
  <dc:creator>Churn Prediction Project</dc:creator>
  <cp:lastModifiedBy>Leone Floyd</cp:lastModifiedBy>
  <cp:revision>5</cp:revision>
  <dcterms:created xsi:type="dcterms:W3CDTF">2026-07-09T06:49:50Z</dcterms:created>
  <dcterms:modified xsi:type="dcterms:W3CDTF">2026-07-11T13:58:50Z</dcterms:modified>
</cp:coreProperties>
</file>